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-228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7623-3FF5-9CD6-FDDF-842B24A2A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D6ABE-1DBD-B216-8C22-51DD7A594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8B8D5-CD32-07AB-E277-A63E375B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F5D12-7B68-2AAB-CE2A-DCDA8839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DD045-4735-8EA1-EB7C-23ADFE6C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50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62FD-E422-518B-B1CE-24FE060E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DE02-6A26-9F01-8C6D-FD6C35A66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83B08-82D3-41F8-7800-9F59A3C6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51C8F-CD83-B317-9C0B-ED9C7700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54B7A-0F53-93E7-F893-F1B609E8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20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1977-C4B9-C2BA-36F1-7952D0DD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752B2-C63C-A931-83E0-89A4101A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C2BD-5781-518B-B154-708D0ADE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E07E2-5487-8DCE-B855-7E7DCC26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DD8C-F980-7C38-2EA5-4D271720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25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DDE5-3BA2-5935-BB5C-80A378676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309CA-1F5D-7767-AE01-908E12D35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5E9F3-2E01-F854-7C99-A28533E02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7D378-EF8F-F243-4C02-E8091D88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0E452-B755-8D8E-EABF-2243F1A5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B900D-0D20-393D-C00D-EB940AB7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74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1989-CD49-0D95-6AD6-7B957CB41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45DCD-6F68-AAF6-2AE8-3D57B5DB0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805BA-557F-4BA4-2B70-BAFC7597B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7F2D0-68CD-DB18-866D-307E00F3D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74929-8175-3C6E-4C6F-90020EC32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5AA96F-8EB7-70F4-F106-A6486890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A9DBA-2E68-6E79-ECDF-0522EA2E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61F0EC-B30B-F3BF-BE4C-1BC6C314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4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9BDB-49CB-C35F-20FA-661A991C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CC9CE-E154-4D12-73F8-4406FA72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B9881-906B-1BFD-7FFE-99C5B7F1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45A09-A0B9-B3B1-F32E-0D9F992D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15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0FDA3-2D85-80BC-3A9F-964490C86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5E4C2-9BBB-DCA3-08F1-D0AE1468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306D1-2564-BC02-F124-50FD84AA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80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6130-546C-9842-D14A-89604787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DA3F5-599E-C42D-9411-6C4D1EC31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B5C9E-2A05-CD2A-B7B3-46A49E0ED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50375-1F26-9DB0-42C0-5DEA95D2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5FC61-E8F5-F857-F7D2-A330DA79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8C46C-BD19-5317-738D-9D1438BB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49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E471-7CD8-684A-8B74-00F08C4C0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034FB-9220-60E3-9C8D-8A700A488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D9491-ACF7-32AF-D50C-27621A8EB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C675A-D13C-8AAD-287A-A0D0E589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7192E-C016-DF70-CBAB-5A0C5A1E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EEF24-F711-3145-361E-884F443D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43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88A47-14B8-5589-0365-8256AB05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C7116-16B0-5C4E-1B5C-5A4D14C58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827D9-60D3-C3EE-5F40-EADCC070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4374C-6030-9372-AE5F-12C510EF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7BB0-7859-0B2F-2DFF-DA957440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81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8477C-E4FD-B077-8649-07F5C8023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2FD51-785D-B094-442F-AC7CEA5C7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C1A09-C2CC-407C-BA23-B8DA7782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AAAB2-8D89-936C-A112-6CD4E88F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543D-6CA1-6D2A-2D9D-78234756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16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4586F-F667-D2B7-9F38-1C5C0EC8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56A64-A9C8-1DE5-EF6D-BC8D8505E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1C5F5-41DA-BC51-281E-303D163A8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60FF4-4F1B-4DC8-9CD1-5A6AD518EA10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9B026-87D0-DDAA-A314-0B486D5ED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C2958-D9AC-32BE-BEC4-F1F155DAB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EEB39-62EA-494C-893E-81E2D5ABF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25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454C-A79D-0CC0-E6EC-D430DE68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178D-5898-F6C6-6022-EFE52FB84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1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Student Code of Conduct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The Student Code of Conduct is designed to supplement the College’s Code of Ethics by providing </a:t>
            </a:r>
          </a:p>
          <a:p>
            <a:pPr marL="0" indent="0">
              <a:buNone/>
            </a:pPr>
            <a:r>
              <a:rPr lang="en-GB" dirty="0"/>
              <a:t>detailed explanations and examples of unacceptable behaviour.  </a:t>
            </a:r>
          </a:p>
          <a:p>
            <a:pPr marL="0" indent="0">
              <a:buNone/>
            </a:pPr>
            <a:r>
              <a:rPr lang="en-GB" dirty="0"/>
              <a:t>The purpose of this Code is to encourage and maintain standards of conduct by students consistent </a:t>
            </a:r>
          </a:p>
          <a:p>
            <a:pPr marL="0" indent="0">
              <a:buNone/>
            </a:pPr>
            <a:r>
              <a:rPr lang="en-GB" dirty="0"/>
              <a:t>with the values and expectations of the Imperial community. </a:t>
            </a:r>
          </a:p>
          <a:p>
            <a:pPr marL="0" indent="0">
              <a:buNone/>
            </a:pPr>
            <a:r>
              <a:rPr lang="en-GB" dirty="0"/>
              <a:t>The Code applies to conduct both on and off the College’s campuses and premises, as well as online. </a:t>
            </a:r>
          </a:p>
          <a:p>
            <a:pPr marL="0" indent="0">
              <a:buNone/>
            </a:pPr>
            <a:r>
              <a:rPr lang="en-GB" dirty="0"/>
              <a:t>It also applies to students engaged in Imperial College Union (ICU) activities. </a:t>
            </a:r>
          </a:p>
          <a:p>
            <a:pPr marL="0" indent="0">
              <a:buNone/>
            </a:pPr>
            <a:r>
              <a:rPr lang="en-GB" dirty="0"/>
              <a:t>The Code is complementary to, and does not replace, other standards, regulations, or professional </a:t>
            </a:r>
          </a:p>
          <a:p>
            <a:pPr marL="0" indent="0">
              <a:buNone/>
            </a:pPr>
            <a:r>
              <a:rPr lang="en-GB" dirty="0"/>
              <a:t>conduct requirements applying to students in the College. </a:t>
            </a:r>
          </a:p>
          <a:p>
            <a:pPr marL="0" indent="0">
              <a:buNone/>
            </a:pPr>
            <a:r>
              <a:rPr lang="en-GB" dirty="0"/>
              <a:t>The Code of conduct should be read in conjunction with the College’s Ethics Code. </a:t>
            </a:r>
          </a:p>
          <a:p>
            <a:pPr marL="0" indent="0">
              <a:buNone/>
            </a:pPr>
            <a:r>
              <a:rPr lang="en-GB" dirty="0"/>
              <a:t>Respect for each other and our surroundings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Students should treat others as they themselves would like to be treated, with dignity and </a:t>
            </a:r>
          </a:p>
          <a:p>
            <a:pPr marL="0" indent="0">
              <a:buNone/>
            </a:pPr>
            <a:r>
              <a:rPr lang="en-GB" dirty="0"/>
              <a:t>due respect at all times. The College community is one in which discrimination, bullying, </a:t>
            </a:r>
          </a:p>
          <a:p>
            <a:pPr marL="0" indent="0">
              <a:buNone/>
            </a:pPr>
            <a:r>
              <a:rPr lang="en-GB" dirty="0"/>
              <a:t>harassment, and victimisation are never tolerated.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Students should treat others equitably and work to create an inclusive environment in which </a:t>
            </a:r>
          </a:p>
          <a:p>
            <a:pPr marL="0" indent="0">
              <a:buNone/>
            </a:pPr>
            <a:r>
              <a:rPr lang="en-GB" dirty="0"/>
              <a:t>everyone is safe to speak up and share their perspective. Students are encouraged to be </a:t>
            </a:r>
          </a:p>
          <a:p>
            <a:pPr marL="0" indent="0">
              <a:buNone/>
            </a:pPr>
            <a:r>
              <a:rPr lang="en-GB" dirty="0"/>
              <a:t>curious and seek to understand diverse perspectives.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Students should take responsibility for their behaviour and their impact on others. Students </a:t>
            </a:r>
          </a:p>
          <a:p>
            <a:pPr marL="0" indent="0">
              <a:buNone/>
            </a:pPr>
            <a:r>
              <a:rPr lang="en-GB" dirty="0"/>
              <a:t>should consider and respond to the needs of others, ensuring communications with others </a:t>
            </a:r>
          </a:p>
          <a:p>
            <a:pPr marL="0" indent="0">
              <a:buNone/>
            </a:pPr>
            <a:r>
              <a:rPr lang="en-GB" dirty="0"/>
              <a:t>are considerate and respectful.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Our campuses, property and facilities should be treated with respect. They are for the safe </a:t>
            </a:r>
          </a:p>
          <a:p>
            <a:pPr marL="0" indent="0">
              <a:buNone/>
            </a:pPr>
            <a:r>
              <a:rPr lang="en-GB" dirty="0"/>
              <a:t>and enjoyable use of all our community and should be used for their designated purposes </a:t>
            </a:r>
          </a:p>
          <a:p>
            <a:pPr marL="0" indent="0">
              <a:buNone/>
            </a:pPr>
            <a:r>
              <a:rPr lang="en-GB" dirty="0"/>
              <a:t>and not intentionally or recklessly damaged or defaced.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Whilst freedom of speech or expression is an important right for all in our community, it is </a:t>
            </a:r>
          </a:p>
          <a:p>
            <a:pPr marL="0" indent="0">
              <a:buNone/>
            </a:pPr>
            <a:r>
              <a:rPr lang="en-GB" dirty="0"/>
              <a:t>not an unqualified right. It is important to remember that a person’s right to freedom of </a:t>
            </a:r>
          </a:p>
          <a:p>
            <a:pPr marL="0" indent="0">
              <a:buNone/>
            </a:pPr>
            <a:r>
              <a:rPr lang="en-GB" dirty="0"/>
              <a:t>speech means lawful freedom of speech. That means that speech (or other expressions of </a:t>
            </a:r>
          </a:p>
          <a:p>
            <a:pPr marL="0" indent="0">
              <a:buNone/>
            </a:pPr>
            <a:r>
              <a:rPr lang="en-GB" dirty="0"/>
              <a:t>views, such as slogans, tattoos, literature, emails, etc), that might be criminal in nature (for </a:t>
            </a:r>
          </a:p>
          <a:p>
            <a:pPr marL="0" indent="0">
              <a:buNone/>
            </a:pPr>
            <a:r>
              <a:rPr lang="en-GB" dirty="0"/>
              <a:t>example, inciting racial hatred; or displaying threatening, abusive or insulting writing likely </a:t>
            </a:r>
          </a:p>
          <a:p>
            <a:pPr marL="0" indent="0">
              <a:buNone/>
            </a:pPr>
            <a:r>
              <a:rPr lang="en-GB" dirty="0"/>
              <a:t>to cause harassment, alarm or distress), or otherwise in breach of civil law (for example, </a:t>
            </a:r>
          </a:p>
          <a:p>
            <a:pPr marL="0" indent="0">
              <a:buNone/>
            </a:pPr>
            <a:r>
              <a:rPr lang="en-GB" dirty="0"/>
              <a:t>causing a breach of the peace, or harassment), is not protected by a person’s right to </a:t>
            </a:r>
          </a:p>
          <a:p>
            <a:pPr marL="0" indent="0">
              <a:buNone/>
            </a:pPr>
            <a:r>
              <a:rPr lang="en-GB" dirty="0"/>
              <a:t>freedom of speech or expression. It is very important therefore that members of our </a:t>
            </a:r>
          </a:p>
          <a:p>
            <a:pPr marL="0" indent="0">
              <a:buNone/>
            </a:pPr>
            <a:r>
              <a:rPr lang="en-GB" dirty="0"/>
              <a:t>community engage in debate in a way that is respectful: how something is said or expressed </a:t>
            </a:r>
          </a:p>
          <a:p>
            <a:pPr marL="0" indent="0">
              <a:buNone/>
            </a:pPr>
            <a:r>
              <a:rPr lang="en-GB" dirty="0"/>
              <a:t>needs to be given as much consideration as what is said or expressed.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Other examples of misconduct include but are not restricted to: </a:t>
            </a:r>
          </a:p>
          <a:p>
            <a:pPr marL="0" indent="0">
              <a:buNone/>
            </a:pPr>
            <a:r>
              <a:rPr lang="en-GB" dirty="0"/>
              <a:t>o disruption of, or improper interference with, the academic, administrative, sporting, </a:t>
            </a:r>
          </a:p>
          <a:p>
            <a:pPr marL="0" indent="0">
              <a:buNone/>
            </a:pPr>
            <a:r>
              <a:rPr lang="en-GB" dirty="0"/>
              <a:t>social or other activities of the College or Imperial College Union; </a:t>
            </a:r>
          </a:p>
          <a:p>
            <a:pPr marL="0" indent="0">
              <a:buNone/>
            </a:pPr>
            <a:r>
              <a:rPr lang="en-GB" dirty="0"/>
              <a:t>o disruption of College business, including teaching, research and studying that is not </a:t>
            </a:r>
          </a:p>
          <a:p>
            <a:pPr marL="0" indent="0">
              <a:buNone/>
            </a:pPr>
            <a:r>
              <a:rPr lang="en-GB" dirty="0"/>
              <a:t>authorised pursuant to a College recognised ballot or process;  </a:t>
            </a:r>
          </a:p>
          <a:p>
            <a:pPr marL="0" indent="0">
              <a:buNone/>
            </a:pPr>
            <a:r>
              <a:rPr lang="en-GB" dirty="0"/>
              <a:t>o misuse or unauthorised use of College premises, facilities, or items of property; </a:t>
            </a:r>
          </a:p>
          <a:p>
            <a:pPr marL="0" indent="0">
              <a:buNone/>
            </a:pPr>
            <a:r>
              <a:rPr lang="en-GB" dirty="0"/>
              <a:t>2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o disregard of the health and safety of self or others whilst on College campuses or </a:t>
            </a:r>
          </a:p>
          <a:p>
            <a:pPr marL="0" indent="0">
              <a:buNone/>
            </a:pPr>
            <a:r>
              <a:rPr lang="en-GB" dirty="0"/>
              <a:t>undertaking College activities; </a:t>
            </a:r>
          </a:p>
          <a:p>
            <a:pPr marL="0" indent="0">
              <a:buNone/>
            </a:pPr>
            <a:r>
              <a:rPr lang="en-GB" dirty="0"/>
              <a:t>o disregard for laboratory safety requirements following a warning from teaching staff </a:t>
            </a:r>
          </a:p>
          <a:p>
            <a:pPr marL="0" indent="0">
              <a:buNone/>
            </a:pPr>
            <a:r>
              <a:rPr lang="en-GB" dirty="0"/>
              <a:t>or laboratory technicians; </a:t>
            </a:r>
          </a:p>
          <a:p>
            <a:pPr marL="0" indent="0">
              <a:buNone/>
            </a:pPr>
            <a:r>
              <a:rPr lang="en-GB" dirty="0"/>
              <a:t>o wearing clothes, other items, or having visible tattoos with slogans or symbols that </a:t>
            </a:r>
          </a:p>
          <a:p>
            <a:pPr marL="0" indent="0">
              <a:buNone/>
            </a:pPr>
            <a:r>
              <a:rPr lang="en-GB" dirty="0"/>
              <a:t>might constitute a breach of the criminal or civil law of England and Wales; </a:t>
            </a:r>
          </a:p>
          <a:p>
            <a:pPr marL="0" indent="0">
              <a:buNone/>
            </a:pPr>
            <a:r>
              <a:rPr lang="en-GB" dirty="0"/>
              <a:t>o distributing material, including online material, which is intimidating, threatening, </a:t>
            </a:r>
          </a:p>
          <a:p>
            <a:pPr marL="0" indent="0">
              <a:buNone/>
            </a:pPr>
            <a:r>
              <a:rPr lang="en-GB" dirty="0"/>
              <a:t>indecent or illegal; and intentionally or recklessly harming other individuals or </a:t>
            </a:r>
          </a:p>
          <a:p>
            <a:pPr marL="0" indent="0">
              <a:buNone/>
            </a:pPr>
            <a:r>
              <a:rPr lang="en-GB" dirty="0"/>
              <a:t>putting others at risk of harm. </a:t>
            </a:r>
          </a:p>
          <a:p>
            <a:pPr marL="0" indent="0">
              <a:buNone/>
            </a:pPr>
            <a:r>
              <a:rPr lang="en-GB" dirty="0"/>
              <a:t>Honesty and integrity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Students should demonstrate a commitment to independence, honesty, and transparency. </a:t>
            </a:r>
          </a:p>
          <a:p>
            <a:pPr marL="0" indent="0">
              <a:buNone/>
            </a:pPr>
            <a:r>
              <a:rPr lang="en-GB" dirty="0"/>
              <a:t>They should be honest and truthful in their dealings with each other and with third parties.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Students engaged in research activities should conduct their research in a way that supports </a:t>
            </a:r>
          </a:p>
          <a:p>
            <a:pPr marL="0" indent="0">
              <a:buNone/>
            </a:pPr>
            <a:r>
              <a:rPr lang="en-GB" dirty="0"/>
              <a:t>public trust and confidence in the College’s research methods and findings. They should </a:t>
            </a:r>
          </a:p>
          <a:p>
            <a:pPr marL="0" indent="0">
              <a:buNone/>
            </a:pPr>
            <a:r>
              <a:rPr lang="en-GB" dirty="0"/>
              <a:t>demonstrate rigour, honesty and integrity, and abide by relevant ethical and legal standards.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Students should not become complicit in any activities in which a student gains an unfair </a:t>
            </a:r>
          </a:p>
          <a:p>
            <a:pPr marL="0" indent="0">
              <a:buNone/>
            </a:pPr>
            <a:r>
              <a:rPr lang="en-GB" dirty="0"/>
              <a:t>advantage, through plagiarism, self-plagiarism, collusion, examination offences, dishonest </a:t>
            </a:r>
          </a:p>
          <a:p>
            <a:pPr marL="0" indent="0">
              <a:buNone/>
            </a:pPr>
            <a:r>
              <a:rPr lang="en-GB" dirty="0"/>
              <a:t>practice, or other means. Students should comply with the College’s Policy on Academic </a:t>
            </a:r>
          </a:p>
          <a:p>
            <a:pPr marL="0" indent="0">
              <a:buNone/>
            </a:pPr>
            <a:r>
              <a:rPr lang="en-GB" dirty="0"/>
              <a:t>Misconduct.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Examples of misconduct include but are not restricted to: </a:t>
            </a:r>
          </a:p>
          <a:p>
            <a:pPr marL="0" indent="0">
              <a:buNone/>
            </a:pPr>
            <a:r>
              <a:rPr lang="en-GB" dirty="0"/>
              <a:t>o behaviour which brings the College into disrepute [this does not include </a:t>
            </a:r>
          </a:p>
          <a:p>
            <a:pPr marL="0" indent="0">
              <a:buNone/>
            </a:pPr>
            <a:r>
              <a:rPr lang="en-GB" dirty="0"/>
              <a:t>whistleblowing];  </a:t>
            </a:r>
          </a:p>
          <a:p>
            <a:pPr marL="0" indent="0">
              <a:buNone/>
            </a:pPr>
            <a:r>
              <a:rPr lang="en-GB" dirty="0"/>
              <a:t>o academic misconduct: cheating, fabrication, plagiarism, collusion, facilitating </a:t>
            </a:r>
          </a:p>
          <a:p>
            <a:pPr marL="0" indent="0">
              <a:buNone/>
            </a:pPr>
            <a:r>
              <a:rPr lang="en-GB" dirty="0"/>
              <a:t>academic dishonesty, claiming authorship of others’ work, or the submission of work </a:t>
            </a:r>
          </a:p>
          <a:p>
            <a:pPr marL="0" indent="0">
              <a:buNone/>
            </a:pPr>
            <a:r>
              <a:rPr lang="en-GB" dirty="0"/>
              <a:t>for assessment which has been generated through an artificial intelligence of </a:t>
            </a:r>
          </a:p>
          <a:p>
            <a:pPr marL="0" indent="0">
              <a:buNone/>
            </a:pPr>
            <a:r>
              <a:rPr lang="en-GB" dirty="0"/>
              <a:t>translation programme without acknowledgement or authorisation; </a:t>
            </a:r>
          </a:p>
          <a:p>
            <a:pPr marL="0" indent="0">
              <a:buNone/>
            </a:pPr>
            <a:r>
              <a:rPr lang="en-GB" dirty="0"/>
              <a:t>o research misconduct: fabrication or falsification of information or data, </a:t>
            </a:r>
          </a:p>
          <a:p>
            <a:pPr marL="0" indent="0">
              <a:buNone/>
            </a:pPr>
            <a:r>
              <a:rPr lang="en-GB" dirty="0"/>
              <a:t>misrepresentation of data and/or interests or involvement, plagiarism, and failure to </a:t>
            </a:r>
          </a:p>
          <a:p>
            <a:pPr marL="0" indent="0">
              <a:buNone/>
            </a:pPr>
            <a:r>
              <a:rPr lang="en-GB" dirty="0"/>
              <a:t>follow accepted procedures or to exercise due care in carrying out research; </a:t>
            </a:r>
          </a:p>
          <a:p>
            <a:pPr marL="0" indent="0">
              <a:buNone/>
            </a:pPr>
            <a:r>
              <a:rPr lang="en-GB" dirty="0"/>
              <a:t>o failure to disclose one’s name or other relevant details to an officer or employee of </a:t>
            </a:r>
          </a:p>
          <a:p>
            <a:pPr marL="0" indent="0">
              <a:buNone/>
            </a:pPr>
            <a:r>
              <a:rPr lang="en-GB" dirty="0"/>
              <a:t>the College or ICU in circumstances where it is reasonable to require that such </a:t>
            </a:r>
          </a:p>
          <a:p>
            <a:pPr marL="0" indent="0">
              <a:buNone/>
            </a:pPr>
            <a:r>
              <a:rPr lang="en-GB" dirty="0"/>
              <a:t>information be given; </a:t>
            </a:r>
          </a:p>
          <a:p>
            <a:pPr marL="0" indent="0">
              <a:buNone/>
            </a:pPr>
            <a:r>
              <a:rPr lang="en-GB" dirty="0"/>
              <a:t>o making vexatious (such as frivolous allegations, or repeated allegations based on </a:t>
            </a:r>
          </a:p>
          <a:p>
            <a:pPr marL="0" indent="0">
              <a:buNone/>
            </a:pPr>
            <a:r>
              <a:rPr lang="en-GB" dirty="0"/>
              <a:t>substantively the same matter that has been dealt with), allegations against a </a:t>
            </a:r>
          </a:p>
          <a:p>
            <a:pPr marL="0" indent="0">
              <a:buNone/>
            </a:pPr>
            <a:r>
              <a:rPr lang="en-GB" dirty="0"/>
              <a:t>member of the College (allegations that are made in good faith are not vexatious, </a:t>
            </a:r>
          </a:p>
          <a:p>
            <a:pPr marL="0" indent="0">
              <a:buNone/>
            </a:pPr>
            <a:r>
              <a:rPr lang="en-GB" dirty="0"/>
              <a:t>even if they are not upheld after they have been investigated); and </a:t>
            </a:r>
          </a:p>
          <a:p>
            <a:pPr marL="0" indent="0">
              <a:buNone/>
            </a:pPr>
            <a:r>
              <a:rPr lang="en-GB" dirty="0"/>
              <a:t>o professional conduct violations. </a:t>
            </a:r>
          </a:p>
          <a:p>
            <a:pPr marL="0" indent="0">
              <a:buNone/>
            </a:pPr>
            <a:r>
              <a:rPr lang="en-GB" dirty="0"/>
              <a:t>Sexual misconduct and abuse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Sexual misconduct (i.e., sexual harassment, sexual violence) is never tolerated. All students </a:t>
            </a:r>
          </a:p>
          <a:p>
            <a:pPr marL="0" indent="0">
              <a:buNone/>
            </a:pPr>
            <a:r>
              <a:rPr lang="en-GB" dirty="0"/>
              <a:t>are expected to act to ensure a working and learning environment free from these </a:t>
            </a:r>
          </a:p>
          <a:p>
            <a:pPr marL="0" indent="0">
              <a:buNone/>
            </a:pPr>
            <a:r>
              <a:rPr lang="en-GB" dirty="0"/>
              <a:t>behaviours.   </a:t>
            </a:r>
          </a:p>
          <a:p>
            <a:pPr marL="0" indent="0">
              <a:buNone/>
            </a:pPr>
            <a:r>
              <a:rPr lang="en-GB" dirty="0"/>
              <a:t>3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Sexual misconduct is any act of violence or harassment which is sexual in nature or any kind </a:t>
            </a:r>
          </a:p>
          <a:p>
            <a:pPr marL="0" indent="0">
              <a:buNone/>
            </a:pPr>
            <a:r>
              <a:rPr lang="en-GB" dirty="0"/>
              <a:t>of unwanted, non-consensual1 sexual touching, or harassment, within or outside a </a:t>
            </a:r>
          </a:p>
          <a:p>
            <a:pPr marL="0" indent="0">
              <a:buNone/>
            </a:pPr>
            <a:r>
              <a:rPr lang="en-GB" dirty="0"/>
              <a:t>relationship. This may include rape, sexual assault, sexual exploitation or groping. It also </a:t>
            </a:r>
          </a:p>
          <a:p>
            <a:pPr marL="0" indent="0">
              <a:buNone/>
            </a:pPr>
            <a:r>
              <a:rPr lang="en-GB" dirty="0"/>
              <a:t>covers behaviours such as grooming, coercion, the promise of a reward for sexual access and </a:t>
            </a:r>
          </a:p>
          <a:p>
            <a:pPr marL="0" indent="0">
              <a:buNone/>
            </a:pPr>
            <a:r>
              <a:rPr lang="en-GB" dirty="0"/>
              <a:t>sexual demands or threats.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In addition to these, other examples, performed without consent, which might constitute </a:t>
            </a:r>
          </a:p>
          <a:p>
            <a:pPr marL="0" indent="0">
              <a:buNone/>
            </a:pPr>
            <a:r>
              <a:rPr lang="en-GB" dirty="0"/>
              <a:t>sexual misconduct include: </a:t>
            </a:r>
          </a:p>
          <a:p>
            <a:pPr marL="0" indent="0">
              <a:buNone/>
            </a:pPr>
            <a:r>
              <a:rPr lang="en-GB" dirty="0"/>
              <a:t>o sexually explicit remarks, innuendos or banter; </a:t>
            </a:r>
          </a:p>
          <a:p>
            <a:pPr marL="0" indent="0">
              <a:buNone/>
            </a:pPr>
            <a:r>
              <a:rPr lang="en-GB" dirty="0"/>
              <a:t>o sexual insults, jokes, teasing or songs; </a:t>
            </a:r>
          </a:p>
          <a:p>
            <a:pPr marL="0" indent="0">
              <a:buNone/>
            </a:pPr>
            <a:r>
              <a:rPr lang="en-GB" dirty="0"/>
              <a:t>o wolf whistling, cat calling or making other offensive sexual noises; </a:t>
            </a:r>
          </a:p>
          <a:p>
            <a:pPr marL="0" indent="0">
              <a:buNone/>
            </a:pPr>
            <a:r>
              <a:rPr lang="en-GB" dirty="0"/>
              <a:t>o offensive comments about someone’s dress, appearance, or private life, including </a:t>
            </a:r>
          </a:p>
          <a:p>
            <a:pPr marL="0" indent="0">
              <a:buNone/>
            </a:pPr>
            <a:r>
              <a:rPr lang="en-GB" dirty="0"/>
              <a:t>their sexuality or gender identity; </a:t>
            </a:r>
          </a:p>
          <a:p>
            <a:pPr marL="0" indent="0">
              <a:buNone/>
            </a:pPr>
            <a:r>
              <a:rPr lang="en-GB" dirty="0"/>
              <a:t>o unwanted or inappropriate physical contact including touching, pinching, groping or </a:t>
            </a:r>
          </a:p>
          <a:p>
            <a:pPr marL="0" indent="0">
              <a:buNone/>
            </a:pPr>
            <a:r>
              <a:rPr lang="en-GB" dirty="0"/>
              <a:t>smacking; </a:t>
            </a:r>
          </a:p>
          <a:p>
            <a:pPr marL="0" indent="0">
              <a:buNone/>
            </a:pPr>
            <a:r>
              <a:rPr lang="en-GB" dirty="0"/>
              <a:t>o unwanted requests to engage in or discuss sexual activity; </a:t>
            </a:r>
          </a:p>
          <a:p>
            <a:pPr marL="0" indent="0">
              <a:buNone/>
            </a:pPr>
            <a:r>
              <a:rPr lang="en-GB" dirty="0"/>
              <a:t>o lifting or removing clothing;  </a:t>
            </a:r>
          </a:p>
          <a:p>
            <a:pPr marL="0" indent="0">
              <a:buNone/>
            </a:pPr>
            <a:r>
              <a:rPr lang="en-GB" dirty="0"/>
              <a:t>o stalking;  </a:t>
            </a:r>
          </a:p>
          <a:p>
            <a:pPr marL="0" indent="0">
              <a:buNone/>
            </a:pPr>
            <a:r>
              <a:rPr lang="en-GB" dirty="0"/>
              <a:t>o using humour to cover or deflect where sexual misconduct has occurred; </a:t>
            </a:r>
          </a:p>
          <a:p>
            <a:pPr marL="0" indent="0">
              <a:buNone/>
            </a:pPr>
            <a:r>
              <a:rPr lang="en-GB" dirty="0"/>
              <a:t>o display or distribution of pornographic or sexually explicit material.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Stalking is persistent and unwanted conduct of one or more kinds of behaviours described </a:t>
            </a:r>
          </a:p>
          <a:p>
            <a:pPr marL="0" indent="0">
              <a:buNone/>
            </a:pPr>
            <a:r>
              <a:rPr lang="en-GB" dirty="0"/>
              <a:t>above. It can be physical or psychological and take place directly against a person, or by </a:t>
            </a:r>
          </a:p>
          <a:p>
            <a:pPr marL="0" indent="0">
              <a:buNone/>
            </a:pPr>
            <a:r>
              <a:rPr lang="en-GB" dirty="0"/>
              <a:t>approaching a third party about a person. The more common examples of stalking are </a:t>
            </a:r>
          </a:p>
          <a:p>
            <a:pPr marL="0" indent="0">
              <a:buNone/>
            </a:pPr>
            <a:r>
              <a:rPr lang="en-GB" dirty="0"/>
              <a:t>following a person home, following a person around, between or to/from campus, sending </a:t>
            </a:r>
          </a:p>
          <a:p>
            <a:pPr marL="0" indent="0">
              <a:buNone/>
            </a:pPr>
            <a:r>
              <a:rPr lang="en-GB" dirty="0"/>
              <a:t>or leaving them unwanted and repeated messages, bullying them on social media or making </a:t>
            </a:r>
          </a:p>
          <a:p>
            <a:pPr marL="0" indent="0">
              <a:buNone/>
            </a:pPr>
            <a:r>
              <a:rPr lang="en-GB" dirty="0"/>
              <a:t>intrusive or unwanted visits. Interpersonal relationships between individuals can also be </a:t>
            </a:r>
          </a:p>
          <a:p>
            <a:pPr marL="0" indent="0">
              <a:buNone/>
            </a:pPr>
            <a:r>
              <a:rPr lang="en-GB" dirty="0"/>
              <a:t>abusive without a sexual element to the behaviour, and can include emotional, financial or </a:t>
            </a:r>
          </a:p>
          <a:p>
            <a:pPr marL="0" indent="0">
              <a:buNone/>
            </a:pPr>
            <a:r>
              <a:rPr lang="en-GB" dirty="0"/>
              <a:t>physical abuse, threats, isolation or intimidation. They may involve bullying or coercive </a:t>
            </a:r>
          </a:p>
          <a:p>
            <a:pPr marL="0" indent="0">
              <a:buNone/>
            </a:pPr>
            <a:r>
              <a:rPr lang="en-GB" dirty="0"/>
              <a:t>behaviours used to maintain power or control.  </a:t>
            </a:r>
          </a:p>
          <a:p>
            <a:pPr marL="0" indent="0">
              <a:buNone/>
            </a:pPr>
            <a:r>
              <a:rPr lang="en-GB" dirty="0"/>
              <a:t>Bullying, harassment, and discrimination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We do not tolerate bullying or harassment.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We do not tolerate any form of discrimination against any other person on grounds of any </a:t>
            </a:r>
          </a:p>
          <a:p>
            <a:pPr marL="0" indent="0">
              <a:buNone/>
            </a:pPr>
            <a:r>
              <a:rPr lang="en-GB" dirty="0"/>
              <a:t>protected characteristic (age, disability, race, including colour, nationality, ethnic or national </a:t>
            </a:r>
          </a:p>
          <a:p>
            <a:pPr marL="0" indent="0">
              <a:buNone/>
            </a:pPr>
            <a:r>
              <a:rPr lang="en-GB" dirty="0"/>
              <a:t>origin, religion or belief, sex, sexual orientation, being pregnant or on maternity leave, being </a:t>
            </a:r>
          </a:p>
          <a:p>
            <a:pPr marL="0" indent="0">
              <a:buNone/>
            </a:pPr>
            <a:r>
              <a:rPr lang="en-GB" dirty="0"/>
              <a:t>married or in a civil partnership, or gender confirmation). Nor do we tolerate any form of </a:t>
            </a:r>
          </a:p>
          <a:p>
            <a:pPr marL="0" indent="0">
              <a:buNone/>
            </a:pPr>
            <a:r>
              <a:rPr lang="en-GB" dirty="0"/>
              <a:t>targeting an individual on account their personal attributes.  This includes but is not limited </a:t>
            </a:r>
          </a:p>
          <a:p>
            <a:pPr marL="0" indent="0">
              <a:buNone/>
            </a:pPr>
            <a:r>
              <a:rPr lang="en-GB" dirty="0"/>
              <a:t>to a medical condition, e.g. HIV status, or socio-economic status.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Harassment occurs where an individual engages in unwanted conduct which has the </a:t>
            </a:r>
          </a:p>
          <a:p>
            <a:pPr marL="0" indent="0">
              <a:buNone/>
            </a:pPr>
            <a:r>
              <a:rPr lang="en-GB" dirty="0"/>
              <a:t>purpose or effect of violating another person’s dignity, or creating an intimidating, hostile,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1 This includes where consent has not been given.  Consent means that a person must be capable to </a:t>
            </a:r>
          </a:p>
          <a:p>
            <a:pPr marL="0" indent="0">
              <a:buNone/>
            </a:pPr>
            <a:r>
              <a:rPr lang="en-GB" dirty="0"/>
              <a:t>choose freely to engage. If the person was constrained in any way, pressured, or incapacitated, consent </a:t>
            </a:r>
          </a:p>
          <a:p>
            <a:pPr marL="0" indent="0">
              <a:buNone/>
            </a:pPr>
            <a:r>
              <a:rPr lang="en-GB" dirty="0"/>
              <a:t>cannot be deemed to have been given. Proceeding without consent is never acceptable.  More </a:t>
            </a:r>
          </a:p>
          <a:p>
            <a:pPr marL="0" indent="0">
              <a:buNone/>
            </a:pPr>
            <a:r>
              <a:rPr lang="en-GB" dirty="0"/>
              <a:t>information can be found at: What is consent? (cps.gov.uk). </a:t>
            </a:r>
          </a:p>
          <a:p>
            <a:pPr marL="0" indent="0">
              <a:buNone/>
            </a:pPr>
            <a:r>
              <a:rPr lang="en-GB" dirty="0"/>
              <a:t>4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degrading or offensive environment for that person. An individual may feel harassed or </a:t>
            </a:r>
          </a:p>
          <a:p>
            <a:pPr marL="0" indent="0">
              <a:buNone/>
            </a:pPr>
            <a:r>
              <a:rPr lang="en-GB" dirty="0"/>
              <a:t>offended even when the inappropriate comment or conduct is not made towards or about </a:t>
            </a:r>
          </a:p>
          <a:p>
            <a:pPr marL="0" indent="0">
              <a:buNone/>
            </a:pPr>
            <a:r>
              <a:rPr lang="en-GB" dirty="0"/>
              <a:t>the individual personally.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Harassment can be both a criminal offence and a breach of civil law.  In general it can take a </a:t>
            </a:r>
          </a:p>
          <a:p>
            <a:pPr marL="0" indent="0">
              <a:buNone/>
            </a:pPr>
            <a:r>
              <a:rPr lang="en-GB" dirty="0"/>
              <a:t>variety of different forms which can be written, verbal, nonverbal or transmitted </a:t>
            </a:r>
          </a:p>
          <a:p>
            <a:pPr marL="0" indent="0">
              <a:buNone/>
            </a:pPr>
            <a:r>
              <a:rPr lang="en-GB" dirty="0"/>
              <a:t>electronically, may consist of a single incident or a series of incidents, and may or may not </a:t>
            </a:r>
          </a:p>
          <a:p>
            <a:pPr marL="0" indent="0">
              <a:buNone/>
            </a:pPr>
            <a:r>
              <a:rPr lang="en-GB" dirty="0"/>
              <a:t>be intentional. Examples include repeatedly ignoring a person through to subjecting him or </a:t>
            </a:r>
          </a:p>
          <a:p>
            <a:pPr marL="0" indent="0">
              <a:buNone/>
            </a:pPr>
            <a:r>
              <a:rPr lang="en-GB" dirty="0"/>
              <a:t>her to unwelcome attention, ridicule or humiliation. More extreme forms of harassment and </a:t>
            </a:r>
          </a:p>
          <a:p>
            <a:pPr marL="0" indent="0">
              <a:buNone/>
            </a:pPr>
            <a:r>
              <a:rPr lang="en-GB" dirty="0"/>
              <a:t>bullying include intimidation, physical threats or violence.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Types of harassment include sexual harassment (discussed above), and harassment on the </a:t>
            </a:r>
          </a:p>
          <a:p>
            <a:pPr marL="0" indent="0">
              <a:buNone/>
            </a:pPr>
            <a:r>
              <a:rPr lang="en-GB" dirty="0"/>
              <a:t>basis of a protected characteristic, or about the personal attributes of a person. This may </a:t>
            </a:r>
          </a:p>
          <a:p>
            <a:pPr marL="0" indent="0">
              <a:buNone/>
            </a:pPr>
            <a:r>
              <a:rPr lang="en-GB" dirty="0"/>
              <a:t>include but is not limited to inappropriate gestures or jokes about, or gratuitous references </a:t>
            </a:r>
          </a:p>
          <a:p>
            <a:pPr marL="0" indent="0">
              <a:buNone/>
            </a:pPr>
            <a:r>
              <a:rPr lang="en-GB" dirty="0"/>
              <a:t>to, a person’s characteristic. It can also include inappropriate displays of posters, or other </a:t>
            </a:r>
          </a:p>
          <a:p>
            <a:pPr marL="0" indent="0">
              <a:buNone/>
            </a:pPr>
            <a:r>
              <a:rPr lang="en-GB" dirty="0"/>
              <a:t>offensive material, and singling out of a person for different treatment on the basis of a </a:t>
            </a:r>
          </a:p>
          <a:p>
            <a:pPr marL="0" indent="0">
              <a:buNone/>
            </a:pPr>
            <a:r>
              <a:rPr lang="en-GB" dirty="0"/>
              <a:t>characteristic. Examples of some types of harassment include but is not limited to: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o Racial harassment may also include offensive remarks about dress, culture or </a:t>
            </a:r>
          </a:p>
          <a:p>
            <a:pPr marL="0" indent="0">
              <a:buNone/>
            </a:pPr>
            <a:r>
              <a:rPr lang="en-GB" dirty="0"/>
              <a:t>customs which have the effect of ridiculing or undermining an individual, or </a:t>
            </a:r>
          </a:p>
          <a:p>
            <a:pPr marL="0" indent="0">
              <a:buNone/>
            </a:pPr>
            <a:r>
              <a:rPr lang="en-GB" dirty="0"/>
              <a:t>fostering hatred and/or prejudice towards individuals or particular ethnic groups. In </a:t>
            </a:r>
          </a:p>
          <a:p>
            <a:pPr marL="0" indent="0">
              <a:buNone/>
            </a:pPr>
            <a:r>
              <a:rPr lang="en-GB" dirty="0"/>
              <a:t>some circumstances it can include pressure to participate in political/religious </a:t>
            </a:r>
          </a:p>
          <a:p>
            <a:pPr marL="0" indent="0">
              <a:buNone/>
            </a:pPr>
            <a:r>
              <a:rPr lang="en-GB" dirty="0"/>
              <a:t>groups.  </a:t>
            </a:r>
          </a:p>
          <a:p>
            <a:pPr marL="0" indent="0">
              <a:buNone/>
            </a:pPr>
            <a:r>
              <a:rPr lang="en-GB" dirty="0"/>
              <a:t>o Harassment of disabled people can take the form of individuals being ignored, </a:t>
            </a:r>
          </a:p>
          <a:p>
            <a:pPr marL="0" indent="0">
              <a:buNone/>
            </a:pPr>
            <a:r>
              <a:rPr lang="en-GB" dirty="0"/>
              <a:t>disparaged, ridiculed or denied opportunities because of mistaken assumptions </a:t>
            </a:r>
          </a:p>
          <a:p>
            <a:pPr marL="0" indent="0">
              <a:buNone/>
            </a:pPr>
            <a:r>
              <a:rPr lang="en-GB" dirty="0"/>
              <a:t>about their capabilities. In such cases, disability, rather than ability, has become the </a:t>
            </a:r>
          </a:p>
          <a:p>
            <a:pPr marL="0" indent="0">
              <a:buNone/>
            </a:pPr>
            <a:r>
              <a:rPr lang="en-GB" dirty="0"/>
              <a:t>focus of attention. </a:t>
            </a:r>
          </a:p>
          <a:p>
            <a:pPr marL="0" indent="0">
              <a:buNone/>
            </a:pPr>
            <a:r>
              <a:rPr lang="en-GB" dirty="0"/>
              <a:t>o Harassment on the grounds of actual or perceived sexual orientation or sexuality can </a:t>
            </a:r>
          </a:p>
          <a:p>
            <a:pPr marL="0" indent="0">
              <a:buNone/>
            </a:pPr>
            <a:r>
              <a:rPr lang="en-GB" dirty="0"/>
              <a:t>include queerphobic remarks or jokes relating to a person’s sexuality, or threats to </a:t>
            </a:r>
          </a:p>
          <a:p>
            <a:pPr marL="0" indent="0">
              <a:buNone/>
            </a:pPr>
            <a:r>
              <a:rPr lang="en-GB" dirty="0"/>
              <a:t>disclose a person’s sexuality to others.   </a:t>
            </a:r>
          </a:p>
          <a:p>
            <a:pPr marL="0" indent="0">
              <a:buNone/>
            </a:pPr>
            <a:r>
              <a:rPr lang="en-GB" dirty="0"/>
              <a:t>o Harassment on the grounds of religious belief can include jokes or insults about </a:t>
            </a:r>
          </a:p>
          <a:p>
            <a:pPr marL="0" indent="0">
              <a:buNone/>
            </a:pPr>
            <a:r>
              <a:rPr lang="en-GB" dirty="0"/>
              <a:t>items of clothing, religious artefacts, religious beliefs or rituals.  </a:t>
            </a:r>
          </a:p>
          <a:p>
            <a:pPr marL="0" indent="0">
              <a:buNone/>
            </a:pPr>
            <a:r>
              <a:rPr lang="en-GB" dirty="0"/>
              <a:t>o Harassment on the grounds of gender confirmation or gender identity can include </a:t>
            </a:r>
          </a:p>
          <a:p>
            <a:pPr marL="0" indent="0">
              <a:buNone/>
            </a:pPr>
            <a:r>
              <a:rPr lang="en-GB" dirty="0"/>
              <a:t>transphobic remarks or jokes, name calling, humiliation, and exclusion.  </a:t>
            </a:r>
          </a:p>
          <a:p>
            <a:pPr marL="0" indent="0">
              <a:buNone/>
            </a:pPr>
            <a:r>
              <a:rPr lang="en-GB" dirty="0"/>
              <a:t>o Harassment on the grounds of age can include jokes or insults about a person’s age, </a:t>
            </a:r>
          </a:p>
          <a:p>
            <a:pPr marL="0" indent="0">
              <a:buNone/>
            </a:pPr>
            <a:r>
              <a:rPr lang="en-GB" dirty="0"/>
              <a:t>or singling a person out for different treatment as a result of their age. </a:t>
            </a:r>
          </a:p>
          <a:p>
            <a:pPr marL="0" indent="0">
              <a:buNone/>
            </a:pPr>
            <a:r>
              <a:rPr lang="en-GB" dirty="0"/>
              <a:t>o Harassment on the grounds of other characteristics which can include but is not </a:t>
            </a:r>
          </a:p>
          <a:p>
            <a:pPr marL="0" indent="0">
              <a:buNone/>
            </a:pPr>
            <a:r>
              <a:rPr lang="en-GB" dirty="0"/>
              <a:t>restricted to pregnancy, maternity and paternity status, marital status including civil </a:t>
            </a:r>
          </a:p>
          <a:p>
            <a:pPr marL="0" indent="0">
              <a:buNone/>
            </a:pPr>
            <a:r>
              <a:rPr lang="en-GB" dirty="0"/>
              <a:t>partnerships. </a:t>
            </a:r>
          </a:p>
          <a:p>
            <a:pPr marL="0" indent="0">
              <a:buNone/>
            </a:pPr>
            <a:r>
              <a:rPr lang="en-GB" dirty="0"/>
              <a:t>o Persistent invasion of personal space, whether of a sexual or non-sexual manner. </a:t>
            </a:r>
          </a:p>
          <a:p>
            <a:pPr marL="0" indent="0">
              <a:buNone/>
            </a:pPr>
            <a:r>
              <a:rPr lang="en-GB" dirty="0"/>
              <a:t> 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There is no legal definition of bullying: whether an individual considers that they have been </a:t>
            </a:r>
          </a:p>
          <a:p>
            <a:pPr marL="0" indent="0">
              <a:buNone/>
            </a:pPr>
            <a:r>
              <a:rPr lang="en-GB" dirty="0"/>
              <a:t>bullied is subjective and so it is very important to be mindful of whether your behaviour </a:t>
            </a:r>
          </a:p>
          <a:p>
            <a:pPr marL="0" indent="0">
              <a:buNone/>
            </a:pPr>
            <a:r>
              <a:rPr lang="en-GB" dirty="0"/>
              <a:t>could be interpreted as being bullying. However, there are behaviours that are generally </a:t>
            </a:r>
          </a:p>
          <a:p>
            <a:pPr marL="0" indent="0">
              <a:buNone/>
            </a:pPr>
            <a:r>
              <a:rPr lang="en-GB" dirty="0"/>
              <a:t>recognised as constituting bullying, such as the exercise of power over another person </a:t>
            </a:r>
          </a:p>
          <a:p>
            <a:pPr marL="0" indent="0">
              <a:buNone/>
            </a:pPr>
            <a:r>
              <a:rPr lang="en-GB" dirty="0"/>
              <a:t>through persistent, negative acts or behaviour that undermines an individual, personally </a:t>
            </a:r>
          </a:p>
          <a:p>
            <a:pPr marL="0" indent="0">
              <a:buNone/>
            </a:pPr>
            <a:r>
              <a:rPr lang="en-GB" dirty="0"/>
              <a:t>and/or professionally. Bullying can be threatening, insulting, abusive, disparaging or </a:t>
            </a:r>
          </a:p>
          <a:p>
            <a:pPr marL="0" indent="0">
              <a:buNone/>
            </a:pPr>
            <a:r>
              <a:rPr lang="en-GB" dirty="0"/>
              <a:t>5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intimidating behaviour placing inappropriate pressure on the recipient which can affect self-</a:t>
            </a:r>
          </a:p>
          <a:p>
            <a:pPr marL="0" indent="0">
              <a:buNone/>
            </a:pPr>
            <a:r>
              <a:rPr lang="en-GB" dirty="0"/>
              <a:t>confidence and self-esteem or has the effect of isolating or excluding them. Bullying can take </a:t>
            </a:r>
          </a:p>
          <a:p>
            <a:pPr marL="0" indent="0">
              <a:buNone/>
            </a:pPr>
            <a:r>
              <a:rPr lang="en-GB" dirty="0"/>
              <a:t>the form of persistent shouting, sarcasm or derogatory remarks; it can be constant criticism, </a:t>
            </a:r>
          </a:p>
          <a:p>
            <a:pPr marL="0" indent="0">
              <a:buNone/>
            </a:pPr>
            <a:r>
              <a:rPr lang="en-GB" dirty="0"/>
              <a:t>without constructive support, to assist an individual to address performance concerns; it </a:t>
            </a:r>
          </a:p>
          <a:p>
            <a:pPr marL="0" indent="0">
              <a:buNone/>
            </a:pPr>
            <a:r>
              <a:rPr lang="en-GB" dirty="0"/>
              <a:t>may also include cyber bullying, i.e. using the Internet and related technologies to harm </a:t>
            </a:r>
          </a:p>
          <a:p>
            <a:pPr marL="0" indent="0">
              <a:buNone/>
            </a:pPr>
            <a:r>
              <a:rPr lang="en-GB" dirty="0"/>
              <a:t>another person in a deliberate, repeated and hostile manner.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The following non-exhaustive list gives examples of behaviour that may also constitute </a:t>
            </a:r>
          </a:p>
          <a:p>
            <a:pPr marL="0" indent="0">
              <a:buNone/>
            </a:pPr>
            <a:r>
              <a:rPr lang="en-GB" dirty="0"/>
              <a:t>harassment or bullying: 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o offensive or inappropriate comments, body language, jokes, innuendos or gestures  </a:t>
            </a:r>
          </a:p>
          <a:p>
            <a:pPr marL="0" indent="0">
              <a:buNone/>
            </a:pPr>
            <a:r>
              <a:rPr lang="en-GB" dirty="0"/>
              <a:t>o openly hostile, insulting, abusive or embarrassing comments or criticism  </a:t>
            </a:r>
          </a:p>
          <a:p>
            <a:pPr marL="0" indent="0">
              <a:buNone/>
            </a:pPr>
            <a:r>
              <a:rPr lang="en-GB" dirty="0"/>
              <a:t>o persistently demeaning, ridiculing, excluding or isolating someone  </a:t>
            </a:r>
          </a:p>
          <a:p>
            <a:pPr marL="0" indent="0">
              <a:buNone/>
            </a:pPr>
            <a:r>
              <a:rPr lang="en-GB" dirty="0"/>
              <a:t>o threats to disclose, or disclosing, private or personal information, including photographs </a:t>
            </a:r>
          </a:p>
          <a:p>
            <a:pPr marL="0" indent="0">
              <a:buNone/>
            </a:pPr>
            <a:r>
              <a:rPr lang="en-GB" dirty="0"/>
              <a:t>(this includes posting information online) </a:t>
            </a:r>
          </a:p>
          <a:p>
            <a:pPr marL="0" indent="0">
              <a:buNone/>
            </a:pPr>
            <a:r>
              <a:rPr lang="en-GB" dirty="0"/>
              <a:t>o comments, notes, publications or posts on social media that are derisory, disparaging, </a:t>
            </a:r>
          </a:p>
          <a:p>
            <a:pPr marL="0" indent="0">
              <a:buNone/>
            </a:pPr>
            <a:r>
              <a:rPr lang="en-GB" dirty="0"/>
              <a:t>abusive, offensive or intimidating  </a:t>
            </a:r>
          </a:p>
          <a:p>
            <a:pPr marL="0" indent="0">
              <a:buNone/>
            </a:pPr>
            <a:r>
              <a:rPr lang="en-GB" dirty="0"/>
              <a:t>o knowingly addressing or referring to someone using a pronoun (for example, he or she) </a:t>
            </a:r>
          </a:p>
          <a:p>
            <a:pPr marL="0" indent="0">
              <a:buNone/>
            </a:pPr>
            <a:r>
              <a:rPr lang="en-GB" dirty="0"/>
              <a:t>with which an individual does not identify. </a:t>
            </a:r>
          </a:p>
          <a:p>
            <a:pPr marL="0" indent="0">
              <a:buNone/>
            </a:pPr>
            <a:r>
              <a:rPr lang="en-GB" dirty="0"/>
              <a:t>o impersonating another person (e.g. by setting up an online profile in their name) </a:t>
            </a:r>
          </a:p>
          <a:p>
            <a:pPr marL="0" indent="0">
              <a:buNone/>
            </a:pPr>
            <a:r>
              <a:rPr lang="en-GB" dirty="0"/>
              <a:t>o </a:t>
            </a:r>
            <a:r>
              <a:rPr lang="en-GB" dirty="0" err="1"/>
              <a:t>microagression</a:t>
            </a:r>
            <a:r>
              <a:rPr lang="en-GB" dirty="0"/>
              <a:t>, where it is subtle and/or indirect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Victimisation: this is when a person is treated unfairly because they have complained about </a:t>
            </a:r>
          </a:p>
          <a:p>
            <a:pPr marL="0" indent="0">
              <a:buNone/>
            </a:pPr>
            <a:r>
              <a:rPr lang="en-GB" dirty="0"/>
              <a:t>being discriminated against or harassed. We will not tolerate victimisation against an </a:t>
            </a:r>
          </a:p>
          <a:p>
            <a:pPr marL="0" indent="0">
              <a:buNone/>
            </a:pPr>
            <a:r>
              <a:rPr lang="en-GB" dirty="0"/>
              <a:t>individual because they have made, or intend to make, a complaint or allegation, or has </a:t>
            </a:r>
          </a:p>
          <a:p>
            <a:pPr marL="0" indent="0">
              <a:buNone/>
            </a:pPr>
            <a:r>
              <a:rPr lang="en-GB" dirty="0"/>
              <a:t>given, or intends to give, assistance and/or evidence in an investigation.  </a:t>
            </a:r>
          </a:p>
          <a:p>
            <a:pPr marL="0" indent="0">
              <a:buNone/>
            </a:pPr>
            <a:r>
              <a:rPr lang="en-GB" dirty="0"/>
              <a:t>Other misconduct </a:t>
            </a:r>
          </a:p>
          <a:p>
            <a:pPr marL="0" indent="0">
              <a:buNone/>
            </a:pPr>
            <a:r>
              <a:rPr lang="en-GB" dirty="0"/>
              <a:t>• </a:t>
            </a:r>
          </a:p>
          <a:p>
            <a:pPr marL="0" indent="0">
              <a:buNone/>
            </a:pPr>
            <a:r>
              <a:rPr lang="en-GB" dirty="0"/>
              <a:t>Further examples of misconduct which may result in disciplinary action being taken include, </a:t>
            </a:r>
          </a:p>
          <a:p>
            <a:pPr marL="0" indent="0">
              <a:buNone/>
            </a:pPr>
            <a:r>
              <a:rPr lang="en-GB" dirty="0"/>
              <a:t>but are not restricted to: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o failure to comply with a previously imposed sanction or restriction under the College’s or </a:t>
            </a:r>
          </a:p>
          <a:p>
            <a:pPr marL="0" indent="0">
              <a:buNone/>
            </a:pPr>
            <a:r>
              <a:rPr lang="en-GB" dirty="0"/>
              <a:t>the Union’s disciplinary procedures (including non-payment of financial compensation); </a:t>
            </a:r>
          </a:p>
          <a:p>
            <a:pPr marL="0" indent="0">
              <a:buNone/>
            </a:pPr>
            <a:r>
              <a:rPr lang="en-GB" dirty="0"/>
              <a:t>o failure to attend a disciplinary interview or provide a statement / response to alleged </a:t>
            </a:r>
          </a:p>
          <a:p>
            <a:pPr marL="0" indent="0">
              <a:buNone/>
            </a:pPr>
            <a:r>
              <a:rPr lang="en-GB" dirty="0"/>
              <a:t>misconduct when requested to do so by the relevant authorised person.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91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2543</Words>
  <Application>Microsoft Office PowerPoint</Application>
  <PresentationFormat>Widescreen</PresentationFormat>
  <Paragraphs>236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Slater</dc:creator>
  <cp:lastModifiedBy>Alex Slater</cp:lastModifiedBy>
  <cp:revision>1</cp:revision>
  <dcterms:created xsi:type="dcterms:W3CDTF">2025-01-21T16:05:15Z</dcterms:created>
  <dcterms:modified xsi:type="dcterms:W3CDTF">2025-01-21T16:05:56Z</dcterms:modified>
</cp:coreProperties>
</file>